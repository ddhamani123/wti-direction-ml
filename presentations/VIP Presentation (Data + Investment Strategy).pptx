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Montserrat Black"/>
      <p:bold r:id="rId18"/>
      <p:boldItalic r:id="rId19"/>
    </p:embeddedFont>
    <p:embeddedFont>
      <p:font typeface="Montserrat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ontserrat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Black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Blac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a4b07d14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a4b07d1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06743487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06743487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0aeea1a29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0aeea1a29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402b8762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402b8762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402b8762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402b8762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402b8762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402b8762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402b8762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402b8762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80aeea1a29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80aeea1a29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solidFill>
          <a:srgbClr val="57068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4">
  <p:cSld name="TITLE_1_1_1">
    <p:bg>
      <p:bgPr>
        <a:solidFill>
          <a:srgbClr val="57068C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3" name="Google Shape;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5">
  <p:cSld name="TITLE_1_1_1_1">
    <p:bg>
      <p:bgPr>
        <a:solidFill>
          <a:srgbClr val="57068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57068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34" name="Google Shape;34;p6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 " id="35" name="Google Shape;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42" name="Google Shape;4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46" name="Google Shape;4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53" name="Google Shape;5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59" name="Google Shape;5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65" name="Google Shape;6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68" name="Google Shape;68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2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12"/>
          <p:cNvSpPr txBox="1"/>
          <p:nvPr>
            <p:ph idx="1" type="subTitle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12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72" name="Google Shape;7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-page image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8" name="Google Shape;78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8" name="Google Shape;88;p1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5" name="Google Shape;95;p1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2" name="Google Shape;102;p1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hasCustomPrompt="1" type="title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108" name="Google Shape;10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8"/>
          <p:cNvSpPr txBox="1"/>
          <p:nvPr>
            <p:ph idx="2" type="subTitle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3" name="Google Shape;11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Alternate Data &amp; </a:t>
            </a:r>
            <a:r>
              <a:rPr lang="en" sz="4800"/>
              <a:t>Investment Strategy </a:t>
            </a:r>
            <a:endParaRPr sz="4800"/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Option 3</a:t>
            </a:r>
            <a:endParaRPr/>
          </a:p>
        </p:txBody>
      </p:sp>
      <p:sp>
        <p:nvSpPr>
          <p:cNvPr id="122" name="Google Shape;122;p21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Dhairya Dhamani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6950" y="457200"/>
            <a:ext cx="8520600" cy="26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Data:</a:t>
            </a:r>
            <a:br>
              <a:rPr lang="en"/>
            </a:br>
            <a:r>
              <a:rPr lang="en"/>
              <a:t>Sentiment Dataset</a:t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4348532" y="1661128"/>
            <a:ext cx="4631400" cy="3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0">
                <a:solidFill>
                  <a:srgbClr val="8900E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sz="25000">
              <a:solidFill>
                <a:srgbClr val="8900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News Sentiment Pipeline</a:t>
            </a:r>
            <a:endParaRPr sz="4600"/>
          </a:p>
        </p:txBody>
      </p:sp>
      <p:sp>
        <p:nvSpPr>
          <p:cNvPr id="134" name="Google Shape;134;p23"/>
          <p:cNvSpPr txBox="1"/>
          <p:nvPr/>
        </p:nvSpPr>
        <p:spPr>
          <a:xfrm>
            <a:off x="407175" y="1017725"/>
            <a:ext cx="57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Finance</a:t>
            </a:r>
            <a:r>
              <a:rPr lang="en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&amp; FinBERT</a:t>
            </a:r>
            <a:endParaRPr sz="13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5" name="Google Shape;135;p23"/>
          <p:cNvCxnSpPr/>
          <p:nvPr/>
        </p:nvCxnSpPr>
        <p:spPr>
          <a:xfrm>
            <a:off x="4345625" y="1400461"/>
            <a:ext cx="0" cy="270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23"/>
          <p:cNvSpPr/>
          <p:nvPr/>
        </p:nvSpPr>
        <p:spPr>
          <a:xfrm>
            <a:off x="407175" y="1750035"/>
            <a:ext cx="1291800" cy="6492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Fetch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407175" y="2641485"/>
            <a:ext cx="1291800" cy="6492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Score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407175" y="3532935"/>
            <a:ext cx="1291800" cy="6492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Aggregate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9" name="Google Shape;139;p23"/>
          <p:cNvCxnSpPr>
            <a:endCxn id="137" idx="0"/>
          </p:cNvCxnSpPr>
          <p:nvPr/>
        </p:nvCxnSpPr>
        <p:spPr>
          <a:xfrm>
            <a:off x="1049775" y="2359185"/>
            <a:ext cx="3300" cy="28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3"/>
          <p:cNvCxnSpPr>
            <a:endCxn id="138" idx="0"/>
          </p:cNvCxnSpPr>
          <p:nvPr/>
        </p:nvCxnSpPr>
        <p:spPr>
          <a:xfrm flipH="1">
            <a:off x="1053075" y="3288135"/>
            <a:ext cx="6600" cy="24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3"/>
          <p:cNvSpPr txBox="1"/>
          <p:nvPr/>
        </p:nvSpPr>
        <p:spPr>
          <a:xfrm>
            <a:off x="1921150" y="1797586"/>
            <a:ext cx="242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yf</a:t>
            </a: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inance</a:t>
            </a: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pulls 21 energy tickers and saves as CSV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1879900" y="2596636"/>
            <a:ext cx="246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FinBert classifies headline as pos/neg/neu -&gt; converts to signed score (+/- conf or 0)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1921150" y="3580486"/>
            <a:ext cx="242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Grouped by date -&gt; 7 daily features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5787" y="1314389"/>
            <a:ext cx="4798551" cy="1001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8262" y="2601714"/>
            <a:ext cx="3013601" cy="19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/>
        </p:nvSpPr>
        <p:spPr>
          <a:xfrm>
            <a:off x="1099700" y="1350763"/>
            <a:ext cx="233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Data Collection Pipeline</a:t>
            </a:r>
            <a:endParaRPr b="1" sz="12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4516200" y="2263950"/>
            <a:ext cx="462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Apr 2026 spike = most recent fetch; earlier months show steady coverage</a:t>
            </a:r>
            <a:endParaRPr i="1" sz="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365126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Sentiment Features</a:t>
            </a:r>
            <a:endParaRPr sz="4600"/>
          </a:p>
        </p:txBody>
      </p:sp>
      <p:sp>
        <p:nvSpPr>
          <p:cNvPr id="153" name="Google Shape;153;p24"/>
          <p:cNvSpPr txBox="1"/>
          <p:nvPr/>
        </p:nvSpPr>
        <p:spPr>
          <a:xfrm>
            <a:off x="407175" y="887889"/>
            <a:ext cx="57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Analysis &amp; WTI Integration Design</a:t>
            </a:r>
            <a:endParaRPr sz="13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4" name="Google Shape;154;p24"/>
          <p:cNvCxnSpPr/>
          <p:nvPr/>
        </p:nvCxnSpPr>
        <p:spPr>
          <a:xfrm>
            <a:off x="5574072" y="1400461"/>
            <a:ext cx="0" cy="34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0" y="1200699"/>
            <a:ext cx="5445999" cy="19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387" y="3307113"/>
            <a:ext cx="5289401" cy="17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/>
          <p:nvPr/>
        </p:nvSpPr>
        <p:spPr>
          <a:xfrm>
            <a:off x="5659600" y="1901982"/>
            <a:ext cx="1073100" cy="479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Base Features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6732700" y="1957032"/>
            <a:ext cx="241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31 Macro + 30 lagged prices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5659600" y="2463857"/>
            <a:ext cx="1073100" cy="479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Sentiment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6732600" y="2426507"/>
            <a:ext cx="241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avg_sentiment, pos_pct, neg_pct, sent_5d_ma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659600" y="3025732"/>
            <a:ext cx="1073100" cy="479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 Leakage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6732700" y="2988375"/>
            <a:ext cx="241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Sentiment features shifted 1 trading day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5659600" y="3570232"/>
            <a:ext cx="1073100" cy="479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Gap Filling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6732700" y="3532882"/>
            <a:ext cx="241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Forward-fill missing sentiment (up to 5b days)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5771425" y="1400450"/>
            <a:ext cx="325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Proof of Concept: Integration w/ WTI</a:t>
            </a:r>
            <a:endParaRPr b="1" sz="12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128175" y="2999325"/>
            <a:ext cx="544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Sparse coverage before Mar 2026 reflects API recency limit</a:t>
            </a:r>
            <a:endParaRPr i="1" sz="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16950" y="457200"/>
            <a:ext cx="8520600" cy="26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Investment Strategy</a:t>
            </a: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4348532" y="1661128"/>
            <a:ext cx="4631400" cy="3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0">
                <a:solidFill>
                  <a:srgbClr val="8900E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sz="25000">
              <a:solidFill>
                <a:srgbClr val="8900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WTI Direction-Based Strategy</a:t>
            </a:r>
            <a:endParaRPr sz="3800"/>
          </a:p>
        </p:txBody>
      </p:sp>
      <p:sp>
        <p:nvSpPr>
          <p:cNvPr id="178" name="Google Shape;178;p26"/>
          <p:cNvSpPr txBox="1"/>
          <p:nvPr/>
        </p:nvSpPr>
        <p:spPr>
          <a:xfrm>
            <a:off x="407175" y="1017725"/>
            <a:ext cx="575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Long-Short, Confidence-Filtered, Ensemble, Baseline: Buy &amp; Hold</a:t>
            </a:r>
            <a:endParaRPr sz="13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1795399" y="1402625"/>
            <a:ext cx="1511400" cy="449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Long-Short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264350" y="2183788"/>
            <a:ext cx="1049400" cy="449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Position Sizing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1393649" y="1863600"/>
            <a:ext cx="2219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+1 (Long)  if model predicts UP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−1 (Short)  if model predicts DOWN</a:t>
            </a:r>
            <a:endParaRPr/>
          </a:p>
        </p:txBody>
      </p:sp>
      <p:sp>
        <p:nvSpPr>
          <p:cNvPr id="182" name="Google Shape;182;p26"/>
          <p:cNvSpPr/>
          <p:nvPr/>
        </p:nvSpPr>
        <p:spPr>
          <a:xfrm>
            <a:off x="264350" y="3015752"/>
            <a:ext cx="1049400" cy="449400"/>
          </a:xfrm>
          <a:prstGeom prst="roundRect">
            <a:avLst>
              <a:gd fmla="val 16667" name="adj"/>
            </a:avLst>
          </a:prstGeom>
          <a:solidFill>
            <a:srgbClr val="8900E1"/>
          </a:solidFill>
          <a:ln cap="flat" cmpd="sng" w="9525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Edge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1564549" y="2963402"/>
            <a:ext cx="197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Trades every day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Captures every signal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4" name="Google Shape;184;p26"/>
          <p:cNvCxnSpPr/>
          <p:nvPr/>
        </p:nvCxnSpPr>
        <p:spPr>
          <a:xfrm>
            <a:off x="3622911" y="1849890"/>
            <a:ext cx="0" cy="17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6"/>
          <p:cNvSpPr/>
          <p:nvPr/>
        </p:nvSpPr>
        <p:spPr>
          <a:xfrm>
            <a:off x="4128011" y="1402625"/>
            <a:ext cx="1511400" cy="449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Confidence-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Filtered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3613511" y="1946013"/>
            <a:ext cx="254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+1 / −1  when  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|prob − 0.5| &gt; θ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0 (Flat)  when uncertain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3622911" y="2953415"/>
            <a:ext cx="254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Avoids low-conviction trades</a:t>
            </a:r>
            <a:b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θ tuned on validation set only</a:t>
            </a:r>
            <a:endParaRPr sz="1200">
              <a:solidFill>
                <a:srgbClr val="424242"/>
              </a:solidFill>
            </a:endParaRPr>
          </a:p>
        </p:txBody>
      </p:sp>
      <p:cxnSp>
        <p:nvCxnSpPr>
          <p:cNvPr id="188" name="Google Shape;188;p26"/>
          <p:cNvCxnSpPr/>
          <p:nvPr/>
        </p:nvCxnSpPr>
        <p:spPr>
          <a:xfrm>
            <a:off x="6163186" y="1847088"/>
            <a:ext cx="0" cy="17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6"/>
          <p:cNvSpPr/>
          <p:nvPr/>
        </p:nvSpPr>
        <p:spPr>
          <a:xfrm>
            <a:off x="6724412" y="1402625"/>
            <a:ext cx="1511400" cy="449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Ensemble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6209912" y="2039038"/>
            <a:ext cx="254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Average XGBoost +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MLP+EN probabilities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then apply ensemble θ</a:t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6198637" y="2954965"/>
            <a:ext cx="2540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Combines both models</a:t>
            </a:r>
            <a:b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More robust signal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2" name="Google Shape;192;p26"/>
          <p:cNvCxnSpPr/>
          <p:nvPr/>
        </p:nvCxnSpPr>
        <p:spPr>
          <a:xfrm>
            <a:off x="1401800" y="1849889"/>
            <a:ext cx="0" cy="17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6"/>
          <p:cNvCxnSpPr/>
          <p:nvPr/>
        </p:nvCxnSpPr>
        <p:spPr>
          <a:xfrm>
            <a:off x="130950" y="2928525"/>
            <a:ext cx="8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6"/>
          <p:cNvSpPr/>
          <p:nvPr/>
        </p:nvSpPr>
        <p:spPr>
          <a:xfrm>
            <a:off x="1795399" y="3732263"/>
            <a:ext cx="1511400" cy="449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9A6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1516800" y="4275725"/>
            <a:ext cx="197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XGBoost, 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MLP + Elastic Net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4127999" y="3732263"/>
            <a:ext cx="1511400" cy="449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9A6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Threshold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3676475" y="4224650"/>
            <a:ext cx="243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hreshold θ tuned on val period only → applied frozen to test period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6724399" y="3732263"/>
            <a:ext cx="1511400" cy="449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9A6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Costs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6250375" y="4317050"/>
            <a:ext cx="243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Transaction cost: 0.05 % per trade modeled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Investment Strategy Results</a:t>
            </a:r>
            <a:endParaRPr sz="3800"/>
          </a:p>
        </p:txBody>
      </p:sp>
      <p:pic>
        <p:nvPicPr>
          <p:cNvPr id="205" name="Google Shape;20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75" y="1077175"/>
            <a:ext cx="5000188" cy="21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800" y="3260550"/>
            <a:ext cx="4870876" cy="171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4638" y="1372789"/>
            <a:ext cx="3999401" cy="93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/>
          <p:nvPr/>
        </p:nvSpPr>
        <p:spPr>
          <a:xfrm>
            <a:off x="5114650" y="1779975"/>
            <a:ext cx="4029300" cy="13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5629300" y="2616675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MLP+EN Long-Short outperformed all strategies at +17.6% (Sharpe 0.745), while Buy &amp; Hold lost 14.4% as WTI declined through the test period. 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rolling Sharpe confirms the edge was consistent, not a one-month anomaly.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