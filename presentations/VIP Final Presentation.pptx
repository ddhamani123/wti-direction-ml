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Montserrat"/>
      <p:regular r:id="rId14"/>
      <p:bold r:id="rId15"/>
      <p:italic r:id="rId16"/>
      <p:boldItalic r:id="rId17"/>
    </p:embeddedFont>
    <p:embeddedFont>
      <p:font typeface="Montserrat Black"/>
      <p:bold r:id="rId18"/>
      <p:boldItalic r:id="rId19"/>
    </p:embeddedFont>
    <p:embeddedFont>
      <p:font typeface="Montserrat ExtraBold"/>
      <p:bold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FCA2756-57F4-4DBC-BA70-34D84C9D1868}">
  <a:tblStyle styleId="{2FCA2756-57F4-4DBC-BA70-34D84C9D186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ExtraBold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MontserratExtraBold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MontserratBlack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MontserratBlack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ca4b07d14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ca4b07d14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presentation covers the advanced investment strategy work I built on top of the WTI crude oil direction classification project. The broader project involved training four machine learning models - MLP with Elastic Net, XGBoost, LSTM, and VAR - to predict whether oil prices would go up or down the next day. In a previous presentation we covered the basic strategies: Long-Short, Confidence-Filtered, and an Ensemble. Those worked to varying degrees, but the MLP+EN Long-Short was the standout at +17.6% vs a buy-and-hold loss of −14.4%. This presentation picks up from there. The question I wanted to answer was: if I keep the same direction signals but build smarter risk management around them, how much better can the strategies get? The answer turned out to be significantly better - and the failures were just as instructive as the successes.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80aeea1a29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80aeea1a29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Before diving into results, let me quickly orient you on what each strategy actually does, because the design choices matter for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understanding why some worked and others didn't.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All six strategies are built on top of the same four direction signals - MLP+EN, XGBoost, LSTM, and VAR - predicting +1 long or −1 short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each day. The difference between strategies is entirely in how those signals get translated into position sizes and when we decide to trade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at all.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S1 tries to be smart about which model to trust by dynamically reweighting based on recent performance. S2 keeps equal model weighting but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adjusts how big each position is based on market volatility and whether we're in a bad regime. S3 treats the four model signals like assets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in a portfolio and solves a mean-variance optimisation problem at each step to find the best allocation. S4 is an upgraded version of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confidence-filtered strategy from before - it only trades on high-conviction signals and then scales size by volatility on top of that. S5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takes a completely different approach to risk: instead of targeting a volatility level, it targets a tail-risk budget using CVaR, which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directly limits how bad the worst-case days can be. S6 is a modification of S2 - it takes the best-performing strategy and adds a circuit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breaker that halts trading if drawdown exceeds a threshold.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The key thing to notice is that S1 through S6 represent a progression of ideas: adaptive weighting, volatility targeting, portfolio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optimisation, signal filtering, tail-risk control, and drawdown protection. We are testing fundamentally different philosophies about how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to manage risk around a weak direction signal.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15687ab3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15687ab3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S2 was the best-performing strategy across the entire test period, so it's worth spending time on exactly how it works.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starting point is the same as every other strategy: four models each cast a vote. MLP+EN, XGBoost, LSTM, and VAR each output +1 or −1,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and we take the majority signal. That part is identical across all six strategies. What S2 does differently is everything that happens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after that vote.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Step one is volatility scaling. Instead of always taking a full position, S2 scales the position size inversely to recent realised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volatility. The formula is: position size equals the signal multiplied by target volatility divided by realised volatility. So if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market has been unusually choppy lately - say realised vol is running at 30% annualised when our target is 15% - the position gets cut 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half. If the market is calm and realised vol is only 10%, the position can go up to 1.5x. This means S2 is automatically more aggressive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when conditions are favorable and more conservative when they aren't, without any manual intervention.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Step two is the regime filter. Even after volatility scaling, if the market is simultaneously trending downward over a 60-day window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running high volatility, S2 cuts the position to zero entirely. This is a hard stop for environments where the direction signal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historically has no edge - persistent downtrends with elevated vol are exactly when models trained on normal market conditions tend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break down.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result speaks for itself: +21.3% total return, Sharpe of 1.386, Sortino of 2.442, and a maximum drawdown of only −11.4%. Compare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to buy-and-hold which lost 14.4% over the exact same period. The gap is 35 percentage points. And critically, look at the chart - S2's line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climbs steadily from April onward while buy-and-hold drifts lower throughout. The strategy is not just getting lucky in one month; it's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consistently capturing the direction signal across the full test period.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key insight here, which is also the quote on the right of the slide, is that the direction signal itself did not improve. The same four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models, the same predictions. What changed is how much capital was put at risk on each prediction. Sizing down during turbulent periods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and sitting out bad regimes is what produced the risk-adjusted outperformance.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15687ab3f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e15687ab3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Not everything worked, and I think the failures are actually the most interesting part of this project because they each failed for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specific, diagnosable reason - not just bad luck.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S1 was the worst performer in the entire test, losing 35.2% with a Sharpe of negative 1.224 and a maximum drawdown of nearly 40%. The idea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behind it was intuitive: if one model has been performing better recently, give it more weight. That sounds like a reasonable adaptive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mechanism. The problem is that in financial markets, recent performance is mostly noise. A model that did well last month did not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necessarily do well because it found a better signal - it might have just gotten lucky on a few big moves. When S1 upweighted that model,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it was essentially betting on luck continuing. And when it didn't, the losses from the overweighted model were amplified. The strategy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ended up chasing its own tail, constantly reweighting toward whoever just got lucky and then getting punished when the luck ran out. This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is a classic problem in quantitative finance called performance chasing, and it is extremely hard to avoid with rolling window approaches.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S6 tells a different story. The idea was to take S2, which we know works at +21.3%, and add a safety net. If the drawdown exceeds a certain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threshold, stop trading until it recovers. Sounds prudent. The problem is that drawdowns in a strategy like S2 are not always warning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signs - sometimes they are just temporary dips before a recovery. In the 2025 test period, S6's circuit breaker triggered during one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those temporary dips and kept the strategy flat while S2 recovered and continued climbing. The result was that a one-rule addition turned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+21.3% into −0.9%. That is a 22 percentage point swing from adding a single safeguard.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The broader lesson from both failures is on the bottom of this slide: adding complexity to a working strategy can destroy it. Both S1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S6 overcorrected for risk. S1 over-adapted to recent performance, S6 over-protected against temporary losses. In both cases the cure was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worse than the disease. When you have a strategy that works, the default assumption should be that additional rules will hurt it unless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have very strong evidence otherwise.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15687ab3f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e15687ab3f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slide brings everything together. Let me walk through the table and then point to what the charts are showing.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Looking at the table from top to bottom - buy-and-hold lost 14.4% with a Sharpe of negative 0.512. That is the passive benchmark and it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a rough period for WTI, driven by OPEC+ production increases and global demand concerns throughout 2025. The MLP+EN long-short baseline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from the previous presentation came in at +11.2% and Sharpe 0.406 - already a meaningful improvement over buy-and-hold just from going long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and short based on model predictions.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Then the six advanced strategies. S1 is the outlier on the downside at −35.2% - we just covered why. S2 is the clear winner at +21.3%,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Sharpe 1.386, Sortino 2.442, and max drawdown of only −11.4%. S3, S4, and S6 all cluster around flat to slightly negative. S5 CVaR-Targeted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is the second standout at +14.9% and Sharpe 1.121. S2 and S5 are the only two strategies in the entire table that beat buy-and-hold 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total return, Sharpe ratio, AND maximum drawdown simultaneously. Every other strategy either made money but had worse drawdowns, 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controlled drawdowns but gave up returns.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The drawdown chart on the left tells the story visually. The pink shaded area going all the way down to negative 40% is S1 - you can see 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deteriorating consistently from the start. The green and orange lines near the top are S2 and S5, staying relatively flat and controlled.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Buy-and-hold is the line that drifts steadily downward to around negative 27%.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The cumulative returns chart at the bottom confirms the same picture from a different angle. S2 is the green line climbing to around 1.21.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S5 tracks slightly below it. Everything else is either flat or declining. S1 is the purple line dropping to around 0.65 - that is a 35%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loss visualised.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The main conclusion from this table is not just which strategy won. It is that the spread of outcomes across six strategies using identical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underlying signals is enormous - from negative 35% to positive 21%. The direction signal was the same for all of them. Position sizing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risk management framework explained almost all of the variation in outcomes.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15687ab3f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e15687ab3f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 want to close with four takeaways that I think generalize beyond this specific project.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The first is that risk management matters more than model accuracy. Every strategy on the previous slide used the exact same four direction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models with the exact same predictions. The 56 percentage point spread between the best and worst strategy - S2 at +21.3% versus S1 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−35.2% - came entirely from how positions were sized and when trading was allowed. If you had spent that same energy trying to push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accuracy from 52% to 53%, you would have gotten almost nothing in return. The leverage is in the strategy framework, not the classifier.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The second is that complexity can destroy a working strategy. S6 is the clearest example I have seen of this. One additional rule, which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seemed like a reasonable safeguard, erased 22 percentage points of return. The instinct to add more rules to protect a strategy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understandable but dangerous. Every rule you add is a new assumption about how the market works, and if that assumption is wrong it does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not just fail to help - it actively hurts. The simpler S2 without the circuit breaker outperformed S2 with it by a wide margin.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The third takeaway is that volatility is information. Most people think of market volatility as something to be endured or hedged away. S2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treats it as a direct input into position sizing. When vol is high, reduce exposure. When vol is low, increase it. This sounds simple but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it has a compounding effect: the strategy naturally becomes more conservative during the periods when the direction signal is least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reliable, and more aggressive during the periods when it is most reliable. That alignment between signal quality and position size is what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produced the Sortino ratio of 2.442 - meaning the strategy's upside volatility was much larger than its downside volatility.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The fourth takeaway is about the nature of the direction signal itself. Across all six strategies and all four models, there is a genuine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edge in the predictions - it is just fragile. It only shows up clearly when the strategy framework is designed to protect it. The moment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you overlay a mechanism that amplifies noise, like S1's dynamic reweighting, or one that cuts you out at the wrong time, like S6's circuit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breaker, the edge disappears. The signal is real but it needs to be handled carefully.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The closing line on the slide summarizes all four points: the biggest gains came from engineering around the signal's weaknesses, not from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improving the signal itself. That is probably the single most important thing I learned from this entire project.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80aeea1a29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80aeea1a29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1" type="title">
  <p:cSld name="TITLE">
    <p:bg>
      <p:bgPr>
        <a:solidFill>
          <a:srgbClr val="57068C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11" name="Google Shape;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2">
  <p:cSld name="TITLE_1">
    <p:bg>
      <p:bgPr>
        <a:solidFill>
          <a:srgbClr val="57068C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4">
  <p:cSld name="TITLE_1_1_1">
    <p:bg>
      <p:bgPr>
        <a:solidFill>
          <a:srgbClr val="57068C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23" name="Google Shape;2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5">
  <p:cSld name="TITLE_1_1_1_1">
    <p:bg>
      <p:bgPr>
        <a:solidFill>
          <a:srgbClr val="57068C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29" name="Google Shape;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57068C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7" cy="5143487"/>
          </a:xfrm>
          <a:prstGeom prst="rect">
            <a:avLst/>
          </a:prstGeom>
          <a:noFill/>
          <a:ln>
            <a:noFill/>
          </a:ln>
        </p:spPr>
      </p:pic>
      <p:cxnSp>
        <p:nvCxnSpPr>
          <p:cNvPr descr=" " id="34" name="Google Shape;34;p6"/>
          <p:cNvCxnSpPr/>
          <p:nvPr/>
        </p:nvCxnSpPr>
        <p:spPr>
          <a:xfrm>
            <a:off x="407168" y="2618527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 " id="35" name="Google Shape;3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 txBox="1"/>
          <p:nvPr>
            <p:ph type="title"/>
          </p:nvPr>
        </p:nvSpPr>
        <p:spPr>
          <a:xfrm>
            <a:off x="316950" y="457200"/>
            <a:ext cx="8520600" cy="18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6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idx="1" type="subTitle"/>
          </p:nvPr>
        </p:nvSpPr>
        <p:spPr>
          <a:xfrm>
            <a:off x="316950" y="2938025"/>
            <a:ext cx="40317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1152475"/>
            <a:ext cx="3345900" cy="31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4114800" y="1175683"/>
            <a:ext cx="4192800" cy="31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7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 " id="42" name="Google Shape;42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592">
          <p15:clr>
            <a:srgbClr val="FA7B17"/>
          </p15:clr>
        </p15:guide>
        <p15:guide id="2" pos="2304">
          <p15:clr>
            <a:srgbClr val="FA7B17"/>
          </p15:clr>
        </p15:guide>
        <p15:guide id="3" orient="horz" pos="720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311700" y="445025"/>
            <a:ext cx="8424900" cy="11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pic>
        <p:nvPicPr>
          <p:cNvPr descr=" " id="46" name="Google Shape;46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8"/>
          <p:cNvSpPr txBox="1"/>
          <p:nvPr>
            <p:ph idx="1" type="body"/>
          </p:nvPr>
        </p:nvSpPr>
        <p:spPr>
          <a:xfrm>
            <a:off x="1376250" y="1828800"/>
            <a:ext cx="3330300" cy="24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5051175" y="1828800"/>
            <a:ext cx="3330300" cy="24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8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0" name="Google Shape;5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152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/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pic>
        <p:nvPicPr>
          <p:cNvPr descr=" " id="53" name="Google Shape;53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9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5" name="Google Shape;55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type="title"/>
          </p:nvPr>
        </p:nvSpPr>
        <p:spPr>
          <a:xfrm>
            <a:off x="311700" y="426408"/>
            <a:ext cx="4308300" cy="10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Montserrat Black"/>
              <a:buNone/>
              <a:defRPr sz="36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11700" y="1646230"/>
            <a:ext cx="3350400" cy="24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descr=" " id="59" name="Google Shape;5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0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1" name="Google Shape;6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1"/>
          <p:cNvSpPr txBox="1"/>
          <p:nvPr>
            <p:ph type="title"/>
          </p:nvPr>
        </p:nvSpPr>
        <p:spPr>
          <a:xfrm>
            <a:off x="407175" y="450150"/>
            <a:ext cx="8329500" cy="38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6000"/>
              <a:buFont typeface="Montserrat Black"/>
              <a:buNone/>
              <a:defRPr sz="60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pic>
        <p:nvPicPr>
          <p:cNvPr descr=" " id="65" name="Google Shape;6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1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" id="68" name="Google Shape;68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2"/>
          <p:cNvSpPr txBox="1"/>
          <p:nvPr>
            <p:ph type="title"/>
          </p:nvPr>
        </p:nvSpPr>
        <p:spPr>
          <a:xfrm>
            <a:off x="294375" y="1233175"/>
            <a:ext cx="40791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Montserrat Black"/>
              <a:buNone/>
              <a:defRPr sz="36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0" name="Google Shape;70;p12"/>
          <p:cNvSpPr txBox="1"/>
          <p:nvPr>
            <p:ph idx="1" type="subTitle"/>
          </p:nvPr>
        </p:nvSpPr>
        <p:spPr>
          <a:xfrm>
            <a:off x="294375" y="2803075"/>
            <a:ext cx="39558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6ABA"/>
              </a:buClr>
              <a:buSzPts val="1800"/>
              <a:buNone/>
              <a:defRPr>
                <a:solidFill>
                  <a:srgbClr val="9A6ABA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1" name="Google Shape;71;p12"/>
          <p:cNvSpPr txBox="1"/>
          <p:nvPr>
            <p:ph idx="2" type="body"/>
          </p:nvPr>
        </p:nvSpPr>
        <p:spPr>
          <a:xfrm>
            <a:off x="4939500" y="724075"/>
            <a:ext cx="3837000" cy="355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descr=" " id="72" name="Google Shape;72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2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lf-page image">
  <p:cSld name="CUSTOM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75" name="Google Shape;7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3"/>
          <p:cNvSpPr txBox="1"/>
          <p:nvPr>
            <p:ph type="title"/>
          </p:nvPr>
        </p:nvSpPr>
        <p:spPr>
          <a:xfrm>
            <a:off x="311700" y="445025"/>
            <a:ext cx="3803100" cy="11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77" name="Google Shape;77;p13"/>
          <p:cNvSpPr txBox="1"/>
          <p:nvPr>
            <p:ph idx="1" type="body"/>
          </p:nvPr>
        </p:nvSpPr>
        <p:spPr>
          <a:xfrm>
            <a:off x="311700" y="2750150"/>
            <a:ext cx="3466500" cy="152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78" name="Google Shape;78;p13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9" name="Google Shape;7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81" name="Google Shape;8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4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4"/>
          <p:cNvSpPr txBox="1"/>
          <p:nvPr>
            <p:ph type="title"/>
          </p:nvPr>
        </p:nvSpPr>
        <p:spPr>
          <a:xfrm>
            <a:off x="311700" y="3564945"/>
            <a:ext cx="44913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None/>
              <a:defRPr sz="1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 txBox="1"/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8" name="Google Shape;88;p15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sz="4200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89" name="Google Shape;89;p15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" name="Google Shape;90;p15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1_1">
    <p:bg>
      <p:bgPr>
        <a:solidFill>
          <a:schemeClr val="dk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/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5" name="Google Shape;95;p16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sz="4200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96" name="Google Shape;96;p16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" name="Google Shape;97;p16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 1">
  <p:cSld name="CUSTOM_1_1_1"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 txBox="1"/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02" name="Google Shape;102;p17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sz="4200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103" name="Google Shape;103;p17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" name="Google Shape;104;p17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hasCustomPrompt="1" type="title"/>
          </p:nvPr>
        </p:nvSpPr>
        <p:spPr>
          <a:xfrm>
            <a:off x="311700" y="407700"/>
            <a:ext cx="8520600" cy="19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5000"/>
              <a:buFont typeface="Montserrat Black"/>
              <a:buNone/>
              <a:defRPr sz="150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7" name="Google Shape;107;p18"/>
          <p:cNvSpPr txBox="1"/>
          <p:nvPr>
            <p:ph idx="1" type="body"/>
          </p:nvPr>
        </p:nvSpPr>
        <p:spPr>
          <a:xfrm>
            <a:off x="2475675" y="3360362"/>
            <a:ext cx="4192800" cy="7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descr=" " id="108" name="Google Shape;108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18"/>
          <p:cNvSpPr txBox="1"/>
          <p:nvPr>
            <p:ph idx="2" type="subTitle"/>
          </p:nvPr>
        </p:nvSpPr>
        <p:spPr>
          <a:xfrm>
            <a:off x="407175" y="2537800"/>
            <a:ext cx="8329200" cy="7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pic>
        <p:nvPicPr>
          <p:cNvPr id="111" name="Google Shape;1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folio" type="blank">
  <p:cSld name="BLANK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3" name="Google Shape;113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9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ExtraBold"/>
              <a:buNone/>
              <a:defRPr sz="4200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424900" cy="3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800"/>
              <a:buFont typeface="Montserrat"/>
              <a:buChar char="●"/>
              <a:defRPr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6">
          <p15:clr>
            <a:srgbClr val="EA4335"/>
          </p15:clr>
        </p15:guide>
        <p15:guide id="2" orient="horz" pos="3025">
          <p15:clr>
            <a:srgbClr val="EA4335"/>
          </p15:clr>
        </p15:guide>
        <p15:guide id="3" pos="5503">
          <p15:clr>
            <a:srgbClr val="EA4335"/>
          </p15:clr>
        </p15:guide>
        <p15:guide id="4" orient="horz" pos="269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Advanced Investment Strategy</a:t>
            </a:r>
            <a:r>
              <a:rPr lang="en" sz="4800"/>
              <a:t> </a:t>
            </a:r>
            <a:endParaRPr sz="4800"/>
          </a:p>
        </p:txBody>
      </p:sp>
      <p:sp>
        <p:nvSpPr>
          <p:cNvPr id="121" name="Google Shape;121;p21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From Basic Long-Short to Risk-Managed Portfolios</a:t>
            </a:r>
            <a:endParaRPr/>
          </a:p>
        </p:txBody>
      </p:sp>
      <p:sp>
        <p:nvSpPr>
          <p:cNvPr id="122" name="Google Shape;122;p21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Dhairya Dhamani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311700" y="217148"/>
            <a:ext cx="842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6 Advanced Strategies</a:t>
            </a:r>
            <a:endParaRPr sz="4600"/>
          </a:p>
        </p:txBody>
      </p:sp>
      <p:sp>
        <p:nvSpPr>
          <p:cNvPr id="128" name="Google Shape;128;p22"/>
          <p:cNvSpPr/>
          <p:nvPr/>
        </p:nvSpPr>
        <p:spPr>
          <a:xfrm>
            <a:off x="407175" y="1605728"/>
            <a:ext cx="3000000" cy="716400"/>
          </a:xfrm>
          <a:prstGeom prst="roundRect">
            <a:avLst>
              <a:gd fmla="val 16667" name="adj"/>
            </a:avLst>
          </a:prstGeom>
          <a:solidFill>
            <a:srgbClr val="5706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Dynamic model weighting by rolling Sharpe ratio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22"/>
          <p:cNvSpPr txBox="1"/>
          <p:nvPr/>
        </p:nvSpPr>
        <p:spPr>
          <a:xfrm>
            <a:off x="407175" y="100046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S1</a:t>
            </a:r>
            <a:endParaRPr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Sharpe-Weighted Ensemble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30" name="Google Shape;130;p22"/>
          <p:cNvSpPr/>
          <p:nvPr/>
        </p:nvSpPr>
        <p:spPr>
          <a:xfrm>
            <a:off x="407175" y="2927378"/>
            <a:ext cx="3000000" cy="716400"/>
          </a:xfrm>
          <a:prstGeom prst="roundRect">
            <a:avLst>
              <a:gd fmla="val 16667" name="adj"/>
            </a:avLst>
          </a:prstGeom>
          <a:solidFill>
            <a:srgbClr val="5706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Scale by volatility, cut positions in bad regimes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22"/>
          <p:cNvSpPr txBox="1"/>
          <p:nvPr/>
        </p:nvSpPr>
        <p:spPr>
          <a:xfrm>
            <a:off x="407175" y="232211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S2</a:t>
            </a:r>
            <a:endParaRPr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Vol-Targeted + Regime-Aware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32" name="Google Shape;132;p22"/>
          <p:cNvSpPr/>
          <p:nvPr/>
        </p:nvSpPr>
        <p:spPr>
          <a:xfrm>
            <a:off x="407175" y="4249028"/>
            <a:ext cx="3000000" cy="716400"/>
          </a:xfrm>
          <a:prstGeom prst="roundRect">
            <a:avLst>
              <a:gd fmla="val 16667" name="adj"/>
            </a:avLst>
          </a:prstGeom>
          <a:solidFill>
            <a:srgbClr val="5706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Mean-variance optimisation on rolling return window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22"/>
          <p:cNvSpPr txBox="1"/>
          <p:nvPr/>
        </p:nvSpPr>
        <p:spPr>
          <a:xfrm>
            <a:off x="407175" y="364376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S3</a:t>
            </a:r>
            <a:endParaRPr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MV Walk-Forward Portfolio</a:t>
            </a:r>
            <a:endParaRPr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22"/>
          <p:cNvSpPr/>
          <p:nvPr/>
        </p:nvSpPr>
        <p:spPr>
          <a:xfrm>
            <a:off x="5410600" y="1605728"/>
            <a:ext cx="3000000" cy="716400"/>
          </a:xfrm>
          <a:prstGeom prst="roundRect">
            <a:avLst>
              <a:gd fmla="val 16667" name="adj"/>
            </a:avLst>
          </a:prstGeom>
          <a:solidFill>
            <a:srgbClr val="5706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Filtered entries with volatility-adjusted sizing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22"/>
          <p:cNvSpPr txBox="1"/>
          <p:nvPr/>
        </p:nvSpPr>
        <p:spPr>
          <a:xfrm>
            <a:off x="5410600" y="100046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S4</a:t>
            </a:r>
            <a:endParaRPr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Confidence + Vol Scaling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36" name="Google Shape;136;p22"/>
          <p:cNvSpPr/>
          <p:nvPr/>
        </p:nvSpPr>
        <p:spPr>
          <a:xfrm>
            <a:off x="5410600" y="2927378"/>
            <a:ext cx="3000000" cy="716400"/>
          </a:xfrm>
          <a:prstGeom prst="roundRect">
            <a:avLst>
              <a:gd fmla="val 16667" name="adj"/>
            </a:avLst>
          </a:prstGeom>
          <a:solidFill>
            <a:srgbClr val="5706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Size each position by tail-risk budget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p22"/>
          <p:cNvSpPr txBox="1"/>
          <p:nvPr/>
        </p:nvSpPr>
        <p:spPr>
          <a:xfrm>
            <a:off x="5410600" y="232211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S5</a:t>
            </a:r>
            <a:endParaRPr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CVaR-Targeted Sizing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38" name="Google Shape;138;p22"/>
          <p:cNvSpPr/>
          <p:nvPr/>
        </p:nvSpPr>
        <p:spPr>
          <a:xfrm>
            <a:off x="5410600" y="4249028"/>
            <a:ext cx="3000000" cy="716400"/>
          </a:xfrm>
          <a:prstGeom prst="roundRect">
            <a:avLst>
              <a:gd fmla="val 16667" name="adj"/>
            </a:avLst>
          </a:prstGeom>
          <a:solidFill>
            <a:srgbClr val="5706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S2 with automatic drawdown shutoff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5410600" y="364376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S6</a:t>
            </a:r>
            <a:endParaRPr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S2 + Circuit Breaker</a:t>
            </a:r>
            <a:endParaRPr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22"/>
          <p:cNvSpPr/>
          <p:nvPr/>
        </p:nvSpPr>
        <p:spPr>
          <a:xfrm>
            <a:off x="3504688" y="2265125"/>
            <a:ext cx="1808400" cy="1983900"/>
          </a:xfrm>
          <a:prstGeom prst="roundRect">
            <a:avLst>
              <a:gd fmla="val 16667" name="adj"/>
            </a:avLst>
          </a:prstGeom>
          <a:solidFill>
            <a:srgbClr val="42424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All strategies evaluated on test period using MLP+EN, XGBoost, LSTM, and VAR signals.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22"/>
          <p:cNvSpPr txBox="1"/>
          <p:nvPr/>
        </p:nvSpPr>
        <p:spPr>
          <a:xfrm>
            <a:off x="3669388" y="4391675"/>
            <a:ext cx="147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All include 0.05% transaction cost</a:t>
            </a:r>
            <a:endParaRPr i="1" sz="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311700" y="217148"/>
            <a:ext cx="842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Best: S2 - Vol-Targeted &amp; Regime Aware</a:t>
            </a:r>
            <a:endParaRPr sz="3000"/>
          </a:p>
        </p:txBody>
      </p:sp>
      <p:sp>
        <p:nvSpPr>
          <p:cNvPr id="147" name="Google Shape;147;p23"/>
          <p:cNvSpPr txBox="1"/>
          <p:nvPr/>
        </p:nvSpPr>
        <p:spPr>
          <a:xfrm>
            <a:off x="5331925" y="931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3"/>
          <p:cNvSpPr txBox="1"/>
          <p:nvPr/>
        </p:nvSpPr>
        <p:spPr>
          <a:xfrm>
            <a:off x="905100" y="1008475"/>
            <a:ext cx="181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How it works</a:t>
            </a:r>
            <a:endParaRPr b="1"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23"/>
          <p:cNvSpPr/>
          <p:nvPr/>
        </p:nvSpPr>
        <p:spPr>
          <a:xfrm>
            <a:off x="311700" y="1751700"/>
            <a:ext cx="3000000" cy="817800"/>
          </a:xfrm>
          <a:prstGeom prst="roundRect">
            <a:avLst>
              <a:gd fmla="val 16667" name="adj"/>
            </a:avLst>
          </a:prstGeom>
          <a:solidFill>
            <a:srgbClr val="5706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MLP+EN, XGBoost, LSTM, and VAR each vote +1 (long) or −1 (short).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23"/>
          <p:cNvSpPr txBox="1"/>
          <p:nvPr/>
        </p:nvSpPr>
        <p:spPr>
          <a:xfrm>
            <a:off x="311700" y="1397700"/>
            <a:ext cx="30000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Montserrat"/>
              <a:buAutoNum type="arabicPeriod"/>
            </a:pPr>
            <a:r>
              <a:rPr b="1" lang="en" sz="11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Direction Signal</a:t>
            </a:r>
            <a:endParaRPr b="1" sz="11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Montserrat"/>
              <a:buAutoNum type="arabicPeriod"/>
            </a:pPr>
            <a:r>
              <a:rPr b="1" lang="en" sz="11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Volatility Scaling</a:t>
            </a:r>
            <a:endParaRPr b="1" sz="11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Montserrat"/>
              <a:buAutoNum type="arabicPeriod"/>
            </a:pPr>
            <a:r>
              <a:rPr b="1" lang="en" sz="11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Regime Filter</a:t>
            </a:r>
            <a:endParaRPr b="1" sz="11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3"/>
          <p:cNvSpPr/>
          <p:nvPr/>
        </p:nvSpPr>
        <p:spPr>
          <a:xfrm>
            <a:off x="311700" y="2923499"/>
            <a:ext cx="3000000" cy="817800"/>
          </a:xfrm>
          <a:prstGeom prst="roundRect">
            <a:avLst>
              <a:gd fmla="val 16667" name="adj"/>
            </a:avLst>
          </a:prstGeom>
          <a:solidFill>
            <a:srgbClr val="5706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Position size = 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signal × (target vol ÷ realised vol).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Smaller position when market is choppy, larger when calm.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23"/>
          <p:cNvSpPr txBox="1"/>
          <p:nvPr/>
        </p:nvSpPr>
        <p:spPr>
          <a:xfrm>
            <a:off x="311700" y="25695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33333"/>
              </a:solidFill>
            </a:endParaRPr>
          </a:p>
        </p:txBody>
      </p:sp>
      <p:sp>
        <p:nvSpPr>
          <p:cNvPr id="153" name="Google Shape;153;p23"/>
          <p:cNvSpPr/>
          <p:nvPr/>
        </p:nvSpPr>
        <p:spPr>
          <a:xfrm>
            <a:off x="311700" y="4069025"/>
            <a:ext cx="3000000" cy="817800"/>
          </a:xfrm>
          <a:prstGeom prst="roundRect">
            <a:avLst>
              <a:gd fmla="val 16667" name="adj"/>
            </a:avLst>
          </a:prstGeom>
          <a:solidFill>
            <a:srgbClr val="5706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If market enters high-volatility + trending-down regime, position cuts to 0. Avoids fighting a persistent downtrend.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54" name="Google Shape;154;p23"/>
          <p:cNvGraphicFramePr/>
          <p:nvPr/>
        </p:nvGraphicFramePr>
        <p:xfrm>
          <a:off x="3987668" y="9049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{2FCA2756-57F4-4DBC-BA70-34D84C9D1868}</a:tableStyleId>
              </a:tblPr>
              <a:tblGrid>
                <a:gridCol w="1438850"/>
                <a:gridCol w="1240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Metric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Value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Total Return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+21%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Sharpe Ratio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1.386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Sortino Ratio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2.442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Max Drawdown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-11.4%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5" name="Google Shape;155;p23"/>
          <p:cNvSpPr txBox="1"/>
          <p:nvPr/>
        </p:nvSpPr>
        <p:spPr>
          <a:xfrm>
            <a:off x="3827206" y="2866167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Buy &amp; Hold return same period: −14.4%</a:t>
            </a:r>
            <a:endParaRPr sz="11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6" name="Google Shape;15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2144" y="3198036"/>
            <a:ext cx="3460027" cy="190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3"/>
          <p:cNvSpPr txBox="1"/>
          <p:nvPr/>
        </p:nvSpPr>
        <p:spPr>
          <a:xfrm>
            <a:off x="7342700" y="1923000"/>
            <a:ext cx="15876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Montserrat"/>
                <a:ea typeface="Montserrat"/>
                <a:cs typeface="Montserrat"/>
                <a:sym typeface="Montserrat"/>
              </a:rPr>
              <a:t>Separating how much risk you take from what direction you trade is where the alpha lives.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>
            <p:ph type="title"/>
          </p:nvPr>
        </p:nvSpPr>
        <p:spPr>
          <a:xfrm>
            <a:off x="311700" y="217148"/>
            <a:ext cx="842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Failures were Instructive</a:t>
            </a:r>
            <a:endParaRPr sz="3500"/>
          </a:p>
        </p:txBody>
      </p:sp>
      <p:sp>
        <p:nvSpPr>
          <p:cNvPr id="163" name="Google Shape;163;p24"/>
          <p:cNvSpPr txBox="1"/>
          <p:nvPr/>
        </p:nvSpPr>
        <p:spPr>
          <a:xfrm>
            <a:off x="213075" y="78985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S1: Sharpe-Weighted Ensemble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64" name="Google Shape;164;p24"/>
          <p:cNvGraphicFramePr/>
          <p:nvPr/>
        </p:nvGraphicFramePr>
        <p:xfrm>
          <a:off x="6915393" y="10367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{2FCA2756-57F4-4DBC-BA70-34D84C9D1868}</a:tableStyleId>
              </a:tblPr>
              <a:tblGrid>
                <a:gridCol w="879250"/>
                <a:gridCol w="757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Total Return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-35.2%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Sharpe Ratio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-1.224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Max DD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-39.7%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5" name="Google Shape;165;p24"/>
          <p:cNvSpPr txBox="1"/>
          <p:nvPr/>
        </p:nvSpPr>
        <p:spPr>
          <a:xfrm>
            <a:off x="122625" y="2498325"/>
            <a:ext cx="31812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Montserrat"/>
                <a:ea typeface="Montserrat"/>
                <a:cs typeface="Montserrat"/>
                <a:sym typeface="Montserrat"/>
              </a:rPr>
              <a:t>Why it failed: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Amplified whichever model got lucky recently.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Chased noise instead of detecting real regime shifts.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When the overweighted model reversed, losses compounded fast.</a:t>
            </a:r>
            <a:endParaRPr/>
          </a:p>
        </p:txBody>
      </p:sp>
      <p:sp>
        <p:nvSpPr>
          <p:cNvPr id="166" name="Google Shape;166;p24"/>
          <p:cNvSpPr txBox="1"/>
          <p:nvPr/>
        </p:nvSpPr>
        <p:spPr>
          <a:xfrm>
            <a:off x="213075" y="1112925"/>
            <a:ext cx="30906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Montserrat"/>
                <a:ea typeface="Montserrat"/>
                <a:cs typeface="Montserrat"/>
                <a:sym typeface="Montserrat"/>
              </a:rPr>
              <a:t>What it did: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Reweighted all 4 model signals dynamically using each model's rolling Sharpe ratio.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Models that performed well recently got higher weight</a:t>
            </a:r>
            <a:endParaRPr/>
          </a:p>
        </p:txBody>
      </p:sp>
      <p:sp>
        <p:nvSpPr>
          <p:cNvPr id="167" name="Google Shape;167;p24"/>
          <p:cNvSpPr txBox="1"/>
          <p:nvPr/>
        </p:nvSpPr>
        <p:spPr>
          <a:xfrm>
            <a:off x="3303675" y="78985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S6: S2 + Circuit Breaker</a:t>
            </a:r>
            <a:endParaRPr/>
          </a:p>
        </p:txBody>
      </p:sp>
      <p:sp>
        <p:nvSpPr>
          <p:cNvPr id="168" name="Google Shape;168;p24"/>
          <p:cNvSpPr txBox="1"/>
          <p:nvPr/>
        </p:nvSpPr>
        <p:spPr>
          <a:xfrm>
            <a:off x="3609663" y="1112925"/>
            <a:ext cx="30000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Montserrat"/>
                <a:ea typeface="Montserrat"/>
                <a:cs typeface="Montserrat"/>
                <a:sym typeface="Montserrat"/>
              </a:rPr>
              <a:t>What it did: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Took the best-performing S2 strategy and added a drawdown </a:t>
            </a: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shut off</a:t>
            </a: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 rule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If cumulative losses exceeded a threshold, trading halted until recovery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Montserrat"/>
                <a:ea typeface="Montserrat"/>
                <a:cs typeface="Montserrat"/>
                <a:sym typeface="Montserrat"/>
              </a:rPr>
              <a:t>Why it failed: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Triggered during drawdowns that turned out to be temporary.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Locked the strategy out of the rebound.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Turned S2's </a:t>
            </a:r>
            <a:r>
              <a:rPr b="1" lang="en" sz="1300">
                <a:latin typeface="Montserrat"/>
                <a:ea typeface="Montserrat"/>
                <a:cs typeface="Montserrat"/>
                <a:sym typeface="Montserrat"/>
              </a:rPr>
              <a:t>+21%</a:t>
            </a: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 into near-flat </a:t>
            </a:r>
            <a:r>
              <a:rPr b="1" lang="en" sz="1300">
                <a:latin typeface="Montserrat"/>
                <a:ea typeface="Montserrat"/>
                <a:cs typeface="Montserrat"/>
                <a:sym typeface="Montserrat"/>
              </a:rPr>
              <a:t>−0.9%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69" name="Google Shape;169;p24"/>
          <p:cNvGraphicFramePr/>
          <p:nvPr/>
        </p:nvGraphicFramePr>
        <p:xfrm>
          <a:off x="6915493" y="30369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{2FCA2756-57F4-4DBC-BA70-34D84C9D1868}</a:tableStyleId>
              </a:tblPr>
              <a:tblGrid>
                <a:gridCol w="879250"/>
                <a:gridCol w="757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Total Return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-0.9%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Sharpe Ratio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-0.103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Max DD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-8.3%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0" name="Google Shape;170;p24"/>
          <p:cNvSpPr txBox="1"/>
          <p:nvPr/>
        </p:nvSpPr>
        <p:spPr>
          <a:xfrm>
            <a:off x="6915525" y="651825"/>
            <a:ext cx="1637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S1</a:t>
            </a:r>
            <a:endParaRPr/>
          </a:p>
        </p:txBody>
      </p:sp>
      <p:sp>
        <p:nvSpPr>
          <p:cNvPr id="171" name="Google Shape;171;p24"/>
          <p:cNvSpPr txBox="1"/>
          <p:nvPr/>
        </p:nvSpPr>
        <p:spPr>
          <a:xfrm>
            <a:off x="6915425" y="2652025"/>
            <a:ext cx="1637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S6</a:t>
            </a:r>
            <a:endParaRPr/>
          </a:p>
        </p:txBody>
      </p:sp>
      <p:sp>
        <p:nvSpPr>
          <p:cNvPr id="172" name="Google Shape;172;p24"/>
          <p:cNvSpPr txBox="1"/>
          <p:nvPr/>
        </p:nvSpPr>
        <p:spPr>
          <a:xfrm>
            <a:off x="2092575" y="4494725"/>
            <a:ext cx="4211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Montserrat"/>
                <a:ea typeface="Montserrat"/>
                <a:cs typeface="Montserrat"/>
                <a:sym typeface="Montserrat"/>
              </a:rPr>
              <a:t>Adding complexity to a working strategy can destroy it. Both failures overcorrected for risk.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 txBox="1"/>
          <p:nvPr>
            <p:ph type="title"/>
          </p:nvPr>
        </p:nvSpPr>
        <p:spPr>
          <a:xfrm>
            <a:off x="311700" y="217148"/>
            <a:ext cx="842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Full Results Summary</a:t>
            </a:r>
            <a:endParaRPr sz="2800"/>
          </a:p>
        </p:txBody>
      </p:sp>
      <p:pic>
        <p:nvPicPr>
          <p:cNvPr id="178" name="Google Shape;17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0800" y="25066"/>
            <a:ext cx="4061550" cy="2295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1975" y="2320775"/>
            <a:ext cx="6709074" cy="282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789848"/>
            <a:ext cx="5020801" cy="1518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type="title"/>
          </p:nvPr>
        </p:nvSpPr>
        <p:spPr>
          <a:xfrm>
            <a:off x="311700" y="217148"/>
            <a:ext cx="842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Key Takeaways</a:t>
            </a:r>
            <a:endParaRPr sz="2800"/>
          </a:p>
        </p:txBody>
      </p:sp>
      <p:sp>
        <p:nvSpPr>
          <p:cNvPr id="186" name="Google Shape;186;p26"/>
          <p:cNvSpPr/>
          <p:nvPr/>
        </p:nvSpPr>
        <p:spPr>
          <a:xfrm>
            <a:off x="678300" y="1275476"/>
            <a:ext cx="2768400" cy="1346400"/>
          </a:xfrm>
          <a:prstGeom prst="roundRect">
            <a:avLst>
              <a:gd fmla="val 16667" name="adj"/>
            </a:avLst>
          </a:prstGeom>
          <a:solidFill>
            <a:srgbClr val="5706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S2 and S5 succeeded not because the direction signal improved, but because they controlled how much was risked per trade. A weak signal + smart sizing beat a strong signal + naive sizing.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26"/>
          <p:cNvSpPr txBox="1"/>
          <p:nvPr/>
        </p:nvSpPr>
        <p:spPr>
          <a:xfrm>
            <a:off x="238200" y="875275"/>
            <a:ext cx="364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latin typeface="Montserrat"/>
                <a:ea typeface="Montserrat"/>
                <a:cs typeface="Montserrat"/>
                <a:sym typeface="Montserrat"/>
              </a:rPr>
              <a:t>Risk Management &gt; Model Accuracy</a:t>
            </a:r>
            <a:endParaRPr b="1" sz="1200" u="sng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678300" y="3022076"/>
            <a:ext cx="2768400" cy="1346400"/>
          </a:xfrm>
          <a:prstGeom prst="roundRect">
            <a:avLst>
              <a:gd fmla="val 16667" name="adj"/>
            </a:avLst>
          </a:prstGeom>
          <a:solidFill>
            <a:srgbClr val="5706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S6 took the best-performing strategy (S2, +21.3%) and added one rule. That rule turned it into −0.9%. Every additional mechanism is another way to fail.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p26"/>
          <p:cNvSpPr txBox="1"/>
          <p:nvPr/>
        </p:nvSpPr>
        <p:spPr>
          <a:xfrm>
            <a:off x="132450" y="2652775"/>
            <a:ext cx="386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latin typeface="Montserrat"/>
                <a:ea typeface="Montserrat"/>
                <a:cs typeface="Montserrat"/>
                <a:sym typeface="Montserrat"/>
              </a:rPr>
              <a:t>Complexity Can Destroy a Working Strategy</a:t>
            </a:r>
            <a:endParaRPr b="1" sz="1200" u="sng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5304950" y="1225351"/>
            <a:ext cx="2768400" cy="1346400"/>
          </a:xfrm>
          <a:prstGeom prst="roundRect">
            <a:avLst>
              <a:gd fmla="val 16667" name="adj"/>
            </a:avLst>
          </a:prstGeom>
          <a:solidFill>
            <a:srgbClr val="5706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Using realised vol to scale position size made S2 more aggressive in calm markets and more conservative in turbulent ones - exactly the right behavior for a noisy direction signal.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26"/>
          <p:cNvSpPr txBox="1"/>
          <p:nvPr/>
        </p:nvSpPr>
        <p:spPr>
          <a:xfrm>
            <a:off x="4864850" y="825150"/>
            <a:ext cx="364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latin typeface="Montserrat"/>
                <a:ea typeface="Montserrat"/>
                <a:cs typeface="Montserrat"/>
                <a:sym typeface="Montserrat"/>
              </a:rPr>
              <a:t>Volatility Is Information, Not Just Noise</a:t>
            </a:r>
            <a:endParaRPr b="1" sz="1200" u="sng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p26"/>
          <p:cNvSpPr/>
          <p:nvPr/>
        </p:nvSpPr>
        <p:spPr>
          <a:xfrm>
            <a:off x="5304950" y="2971951"/>
            <a:ext cx="2768400" cy="1346400"/>
          </a:xfrm>
          <a:prstGeom prst="roundRect">
            <a:avLst>
              <a:gd fmla="val 16667" name="adj"/>
            </a:avLst>
          </a:prstGeom>
          <a:solidFill>
            <a:srgbClr val="57068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Across all 6 strategies, the underlying model signals provided a kind of edge. But it only showed up when the strategy framework was built to protect it - not amplify it.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26"/>
          <p:cNvSpPr txBox="1"/>
          <p:nvPr/>
        </p:nvSpPr>
        <p:spPr>
          <a:xfrm>
            <a:off x="4759100" y="2602650"/>
            <a:ext cx="386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latin typeface="Montserrat"/>
                <a:ea typeface="Montserrat"/>
                <a:cs typeface="Montserrat"/>
                <a:sym typeface="Montserrat"/>
              </a:rPr>
              <a:t>The Direction Signal Is Real but Fragile</a:t>
            </a:r>
            <a:endParaRPr b="1" sz="1200" u="sng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26"/>
          <p:cNvSpPr txBox="1"/>
          <p:nvPr/>
        </p:nvSpPr>
        <p:spPr>
          <a:xfrm>
            <a:off x="2293200" y="4540925"/>
            <a:ext cx="446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Montserrat"/>
                <a:ea typeface="Montserrat"/>
                <a:cs typeface="Montserrat"/>
                <a:sym typeface="Montserrat"/>
              </a:rPr>
              <a:t>The biggest gains came from engineering around the signal's weaknesses, not from just improving the signal itself.</a:t>
            </a:r>
            <a:endParaRPr i="1" sz="11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/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YU Bold">
  <a:themeElements>
    <a:clrScheme name="Simple Light">
      <a:dk1>
        <a:srgbClr val="57068C"/>
      </a:dk1>
      <a:lt1>
        <a:srgbClr val="FFFFFF"/>
      </a:lt1>
      <a:dk2>
        <a:srgbClr val="333333"/>
      </a:dk2>
      <a:lt2>
        <a:srgbClr val="E2E1DD"/>
      </a:lt2>
      <a:accent1>
        <a:srgbClr val="9A6ABA"/>
      </a:accent1>
      <a:accent2>
        <a:srgbClr val="6D6D6D"/>
      </a:accent2>
      <a:accent3>
        <a:srgbClr val="8900E1"/>
      </a:accent3>
      <a:accent4>
        <a:srgbClr val="E97300"/>
      </a:accent4>
      <a:accent5>
        <a:srgbClr val="799A05"/>
      </a:accent5>
      <a:accent6>
        <a:srgbClr val="C50F3C"/>
      </a:accent6>
      <a:hlink>
        <a:srgbClr val="57068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